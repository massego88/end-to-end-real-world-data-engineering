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walks through the complete end-to-end data engineering solution we built using Azure Databricks and the Medallion Architecture for retail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business problem: retail data lived in silos. CRM, Inventory and Transaction systems could not be trusted for unified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primary source systems feed the platform. All land as CSV files into the Bronze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Medallion Architecture is the backbone. Data progressively improves in quality and business value as it moves from Bronze to Silver to Gold.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 is the immutable landing zone. We never transform source data here — full fidelity is preserved for audit and reprocessing.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Silver is where trust is built. We clean, standardize, enrich and validate so downstream consumers can rely on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 is business-ready. Aggregations, KPIs and dimensional models live here and are consumed directly by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layers are stored as Delta tables on DBFS. This gives us ACID guarantees, time travel, and scalable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transformation logic lives in four PySpark notebooks that form a clear, auditable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BI connects directly to the Gold layer. Stakeholders see live KPIs, trends and category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insights unlocked by the platform: consistent growth, category leadership, high-value customer concentration, and seasonal regional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Putting it all together: sources flow through Bronze-Silver-Gold on Azure Databricks and surface as trusted insights in Power BI. Scalable, reliable, secure, performant and cost-effective.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28600"/>
            <a:ext cx="594360" cy="365760"/>
          </a:xfrm>
          <a:prstGeom prst="roundRect">
            <a:avLst>
              <a:gd name="adj" fmla="val 17500"/>
            </a:avLst>
          </a:prstGeom>
          <a:solidFill>
            <a:srgbClr val="00A3E0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28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8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INTRODUCTION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1148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Engineering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Databricks on Azure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11480" y="1965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modern data platform using Azure Databricks and Medallion Architecture to transform retail data into meaningful business insights.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2834640"/>
            <a:ext cx="6400800" cy="1371600"/>
          </a:xfrm>
          <a:prstGeom prst="roundRect">
            <a:avLst>
              <a:gd name="adj" fmla="val 6667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2971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38328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1752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383280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20640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300" dirty="0"/>
          </a:p>
        </p:txBody>
      </p:sp>
      <p:pic>
        <p:nvPicPr>
          <p:cNvPr id="16" name="Image 3" descr="/home/workdir/attachments/100149840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234440"/>
            <a:ext cx="1691640" cy="1691640"/>
          </a:xfrm>
          <a:prstGeom prst="ellipse">
            <a:avLst/>
          </a:prstGeom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pic>
      <p:sp>
        <p:nvSpPr>
          <p:cNvPr id="17" name="Shape 10"/>
          <p:cNvSpPr/>
          <p:nvPr/>
        </p:nvSpPr>
        <p:spPr>
          <a:xfrm>
            <a:off x="7114032" y="1170432"/>
            <a:ext cx="1819656" cy="1819656"/>
          </a:xfrm>
          <a:prstGeom prst="ellipse">
            <a:avLst/>
          </a:prstGeom>
          <a:ln w="31750">
            <a:solidFill>
              <a:srgbClr val="00A3E0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704088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Architecture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7040880" y="33832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→ Silver → Gold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365760" y="4892040"/>
            <a:ext cx="8412480" cy="109728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21" name="Shape 14"/>
          <p:cNvSpPr/>
          <p:nvPr/>
        </p:nvSpPr>
        <p:spPr>
          <a:xfrm>
            <a:off x="365760" y="4892040"/>
            <a:ext cx="701040" cy="109728"/>
          </a:xfrm>
          <a:prstGeom prst="roundRect">
            <a:avLst>
              <a:gd name="adj" fmla="val 50000"/>
            </a:avLst>
          </a:prstGeom>
          <a:solidFill>
            <a:srgbClr val="00A3E0"/>
          </a:solidFill>
          <a:ln/>
        </p:spPr>
      </p:sp>
      <p:sp>
        <p:nvSpPr>
          <p:cNvPr id="22" name="Text 15"/>
          <p:cNvSpPr/>
          <p:nvPr/>
        </p:nvSpPr>
        <p:spPr>
          <a:xfrm>
            <a:off x="365760" y="5010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28600"/>
            <a:ext cx="594360" cy="365760"/>
          </a:xfrm>
          <a:prstGeom prst="roundRect">
            <a:avLst>
              <a:gd name="adj" fmla="val 17500"/>
            </a:avLst>
          </a:prstGeom>
          <a:solidFill>
            <a:srgbClr val="00A3E0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28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1148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data is scattered across multiple systems and not trusted for analytics.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389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System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11480" y="192024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2996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029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System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11480" y="256032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70048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2670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System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931920" y="1280160"/>
            <a:ext cx="4754880" cy="2834640"/>
          </a:xfrm>
          <a:prstGeom prst="roundRect">
            <a:avLst>
              <a:gd name="adj" fmla="val 3226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416052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160520" y="1874520"/>
            <a:ext cx="201168" cy="20116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9" name="Text 13"/>
          <p:cNvSpPr/>
          <p:nvPr/>
        </p:nvSpPr>
        <p:spPr>
          <a:xfrm>
            <a:off x="4526280" y="18288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Silos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526280" y="2029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systems, no unified view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160520" y="2377440"/>
            <a:ext cx="201168" cy="20116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2" name="Text 16"/>
          <p:cNvSpPr/>
          <p:nvPr/>
        </p:nvSpPr>
        <p:spPr>
          <a:xfrm>
            <a:off x="4526280" y="2331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Issues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262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&amp; incomplete data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160520" y="2880360"/>
            <a:ext cx="201168" cy="20116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5" name="Text 19"/>
          <p:cNvSpPr/>
          <p:nvPr/>
        </p:nvSpPr>
        <p:spPr>
          <a:xfrm>
            <a:off x="4526280" y="2834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Metrics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26280" y="30358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definitions across teams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160520" y="3383280"/>
            <a:ext cx="201168" cy="20116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8" name="Text 22"/>
          <p:cNvSpPr/>
          <p:nvPr/>
        </p:nvSpPr>
        <p:spPr>
          <a:xfrm>
            <a:off x="4526280" y="3337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Source of Truth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26280" y="35387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reports &amp; decisions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365760" y="4892040"/>
            <a:ext cx="8412480" cy="109728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31" name="Shape 25"/>
          <p:cNvSpPr/>
          <p:nvPr/>
        </p:nvSpPr>
        <p:spPr>
          <a:xfrm>
            <a:off x="365760" y="4892040"/>
            <a:ext cx="1402080" cy="109728"/>
          </a:xfrm>
          <a:prstGeom prst="roundRect">
            <a:avLst>
              <a:gd name="adj" fmla="val 50000"/>
            </a:avLst>
          </a:prstGeom>
          <a:solidFill>
            <a:srgbClr val="00A3E0"/>
          </a:solidFill>
          <a:ln/>
        </p:spPr>
      </p:sp>
      <p:sp>
        <p:nvSpPr>
          <p:cNvPr id="32" name="Text 26"/>
          <p:cNvSpPr/>
          <p:nvPr/>
        </p:nvSpPr>
        <p:spPr>
          <a:xfrm>
            <a:off x="365760" y="5010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of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28600"/>
            <a:ext cx="594360" cy="365760"/>
          </a:xfrm>
          <a:prstGeom prst="roundRect">
            <a:avLst>
              <a:gd name="adj" fmla="val 17500"/>
            </a:avLst>
          </a:prstGeom>
          <a:solidFill>
            <a:srgbClr val="00A3E0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28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144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18872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System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85800" y="2468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profiles,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 &amp; history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83280" y="9144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188720"/>
            <a:ext cx="731520" cy="731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044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System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520440" y="2468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levels,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 &amp; SKUs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17920" y="9144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88720"/>
            <a:ext cx="731520" cy="7315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5508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System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355080" y="2468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Orders, payments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sales records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1828800" y="338328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1A2A44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361188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83464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Landing Zone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283464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Files  →  Ingested into Bronze Layer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65760" y="4892040"/>
            <a:ext cx="8412480" cy="109728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23" name="Shape 16"/>
          <p:cNvSpPr/>
          <p:nvPr/>
        </p:nvSpPr>
        <p:spPr>
          <a:xfrm>
            <a:off x="365760" y="4892040"/>
            <a:ext cx="2103120" cy="109728"/>
          </a:xfrm>
          <a:prstGeom prst="roundRect">
            <a:avLst>
              <a:gd name="adj" fmla="val 50000"/>
            </a:avLst>
          </a:prstGeom>
          <a:solidFill>
            <a:srgbClr val="00A3E0"/>
          </a:solidFill>
          <a:ln/>
        </p:spPr>
      </p:sp>
      <p:sp>
        <p:nvSpPr>
          <p:cNvPr id="24" name="Text 17"/>
          <p:cNvSpPr/>
          <p:nvPr/>
        </p:nvSpPr>
        <p:spPr>
          <a:xfrm>
            <a:off x="365760" y="5010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of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28600"/>
            <a:ext cx="594360" cy="365760"/>
          </a:xfrm>
          <a:prstGeom prst="roundRect">
            <a:avLst>
              <a:gd name="adj" fmla="val 17500"/>
            </a:avLst>
          </a:prstGeom>
          <a:solidFill>
            <a:srgbClr val="00A3E0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28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ARCHITECTURE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1148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data flows through the Medallion Architecture.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18872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188720"/>
            <a:ext cx="2560320" cy="914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9" name="Shape 6"/>
          <p:cNvSpPr/>
          <p:nvPr/>
        </p:nvSpPr>
        <p:spPr>
          <a:xfrm>
            <a:off x="1463040" y="1508760"/>
            <a:ext cx="914400" cy="320040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10" name="Shape 7"/>
          <p:cNvSpPr/>
          <p:nvPr/>
        </p:nvSpPr>
        <p:spPr>
          <a:xfrm>
            <a:off x="1463040" y="1645920"/>
            <a:ext cx="914400" cy="68580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1" name="Shape 8"/>
          <p:cNvSpPr/>
          <p:nvPr/>
        </p:nvSpPr>
        <p:spPr>
          <a:xfrm>
            <a:off x="1463040" y="2148840"/>
            <a:ext cx="914400" cy="320040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Ingested as-is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sources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74720" y="118872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74720" y="1188720"/>
            <a:ext cx="2560320" cy="9144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7" name="Shape 14"/>
          <p:cNvSpPr/>
          <p:nvPr/>
        </p:nvSpPr>
        <p:spPr>
          <a:xfrm>
            <a:off x="4297680" y="1508760"/>
            <a:ext cx="914400" cy="320040"/>
          </a:xfrm>
          <a:prstGeom prst="ellipse">
            <a:avLst/>
          </a:prstGeom>
          <a:solidFill>
            <a:srgbClr val="A8A8A8"/>
          </a:solidFill>
          <a:ln/>
        </p:spPr>
      </p:sp>
      <p:sp>
        <p:nvSpPr>
          <p:cNvPr id="18" name="Shape 15"/>
          <p:cNvSpPr/>
          <p:nvPr/>
        </p:nvSpPr>
        <p:spPr>
          <a:xfrm>
            <a:off x="4297680" y="1645920"/>
            <a:ext cx="914400" cy="68580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9" name="Shape 16"/>
          <p:cNvSpPr/>
          <p:nvPr/>
        </p:nvSpPr>
        <p:spPr>
          <a:xfrm>
            <a:off x="4297680" y="2148840"/>
            <a:ext cx="914400" cy="320040"/>
          </a:xfrm>
          <a:prstGeom prst="ellipse">
            <a:avLst/>
          </a:prstGeom>
          <a:solidFill>
            <a:srgbClr val="A8A8A8"/>
          </a:solidFill>
          <a:ln/>
        </p:spPr>
      </p:sp>
      <p:sp>
        <p:nvSpPr>
          <p:cNvPr id="20" name="Text 17"/>
          <p:cNvSpPr/>
          <p:nvPr/>
        </p:nvSpPr>
        <p:spPr>
          <a:xfrm>
            <a:off x="356616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56616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Data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5661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09360" y="118872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309360" y="1188720"/>
            <a:ext cx="2560320" cy="914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5" name="Shape 22"/>
          <p:cNvSpPr/>
          <p:nvPr/>
        </p:nvSpPr>
        <p:spPr>
          <a:xfrm>
            <a:off x="7132320" y="1508760"/>
            <a:ext cx="914400" cy="32004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6" name="Shape 23"/>
          <p:cNvSpPr/>
          <p:nvPr/>
        </p:nvSpPr>
        <p:spPr>
          <a:xfrm>
            <a:off x="7132320" y="1645920"/>
            <a:ext cx="914400" cy="6858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7" name="Shape 24"/>
          <p:cNvSpPr/>
          <p:nvPr/>
        </p:nvSpPr>
        <p:spPr>
          <a:xfrm>
            <a:off x="7132320" y="2148840"/>
            <a:ext cx="914400" cy="32004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0080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Ready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008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 models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06324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3E0"/>
                </a:solidFill>
              </a:rPr>
              <a:t>→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89788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3E0"/>
                </a:solidFill>
              </a:rPr>
              <a:t>→</a:t>
            </a:r>
            <a:endParaRPr lang="en-US" sz="2400" dirty="0"/>
          </a:p>
        </p:txBody>
      </p:sp>
      <p:sp>
        <p:nvSpPr>
          <p:cNvPr id="33" name="Shape 30"/>
          <p:cNvSpPr/>
          <p:nvPr/>
        </p:nvSpPr>
        <p:spPr>
          <a:xfrm>
            <a:off x="1828800" y="384048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1A2A44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3977640"/>
            <a:ext cx="365760" cy="36576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274320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 STORAGE (DBFS)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365760" y="4892040"/>
            <a:ext cx="8412480" cy="109728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37" name="Shape 33"/>
          <p:cNvSpPr/>
          <p:nvPr/>
        </p:nvSpPr>
        <p:spPr>
          <a:xfrm>
            <a:off x="365760" y="4892040"/>
            <a:ext cx="2804160" cy="109728"/>
          </a:xfrm>
          <a:prstGeom prst="roundRect">
            <a:avLst>
              <a:gd name="adj" fmla="val 50000"/>
            </a:avLst>
          </a:prstGeom>
          <a:solidFill>
            <a:srgbClr val="00A3E0"/>
          </a:solidFill>
          <a:ln/>
        </p:spPr>
      </p:sp>
      <p:sp>
        <p:nvSpPr>
          <p:cNvPr id="38" name="Text 34"/>
          <p:cNvSpPr/>
          <p:nvPr/>
        </p:nvSpPr>
        <p:spPr>
          <a:xfrm>
            <a:off x="365760" y="5010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28600"/>
            <a:ext cx="594360" cy="365760"/>
          </a:xfrm>
          <a:prstGeom prst="roundRect">
            <a:avLst>
              <a:gd name="adj" fmla="val 17500"/>
            </a:avLst>
          </a:prstGeom>
          <a:solidFill>
            <a:srgbClr val="CD7F32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28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LAYER – RAW DATA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43000" y="1188720"/>
            <a:ext cx="1828800" cy="457200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" y="1417320"/>
            <a:ext cx="1828800" cy="137160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9" name="Shape 6"/>
          <p:cNvSpPr/>
          <p:nvPr/>
        </p:nvSpPr>
        <p:spPr>
          <a:xfrm>
            <a:off x="1143000" y="2606040"/>
            <a:ext cx="1828800" cy="457200"/>
          </a:xfrm>
          <a:prstGeom prst="ellipse">
            <a:avLst/>
          </a:prstGeom>
          <a:solidFill>
            <a:srgbClr val="A86B2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291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7F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bronze.retail_raw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Landing Zone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931920" y="82296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931920" y="822960"/>
            <a:ext cx="91440" cy="7772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4" name="Text 11"/>
          <p:cNvSpPr/>
          <p:nvPr/>
        </p:nvSpPr>
        <p:spPr>
          <a:xfrm>
            <a:off x="4206240" y="9326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raw data from source systems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206240" y="1234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files from CRM, Inventory &amp; Transactions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931920" y="169164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931920" y="1691640"/>
            <a:ext cx="91440" cy="7772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0" y="1801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transformations applied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206240" y="2103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remains in original source format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931920" y="256032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931920" y="2560320"/>
            <a:ext cx="91440" cy="7772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22" name="Text 19"/>
          <p:cNvSpPr/>
          <p:nvPr/>
        </p:nvSpPr>
        <p:spPr>
          <a:xfrm>
            <a:off x="4206240" y="26700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original data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20624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fidelity for audit and reprocessing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931920" y="34290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931920" y="3429000"/>
            <a:ext cx="91440" cy="7772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26" name="Text 23"/>
          <p:cNvSpPr/>
          <p:nvPr/>
        </p:nvSpPr>
        <p:spPr>
          <a:xfrm>
            <a:off x="4206240" y="35387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in Delta format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206240" y="3840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transactions &amp; time travel enabled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65760" y="4892040"/>
            <a:ext cx="8412480" cy="109728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29" name="Shape 26"/>
          <p:cNvSpPr/>
          <p:nvPr/>
        </p:nvSpPr>
        <p:spPr>
          <a:xfrm>
            <a:off x="365760" y="4892040"/>
            <a:ext cx="3505200" cy="109728"/>
          </a:xfrm>
          <a:prstGeom prst="roundRect">
            <a:avLst>
              <a:gd name="adj" fmla="val 50000"/>
            </a:avLst>
          </a:prstGeom>
          <a:solidFill>
            <a:srgbClr val="00A3E0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60" y="5010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of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28600"/>
            <a:ext cx="594360" cy="365760"/>
          </a:xfrm>
          <a:prstGeom prst="roundRect">
            <a:avLst>
              <a:gd name="adj" fmla="val 17500"/>
            </a:avLst>
          </a:prstGeom>
          <a:solidFill>
            <a:srgbClr val="A8A8A8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28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LAYER – CLEAN &amp; TRANSFORM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1148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standardize and enrich the data.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43000" y="1417320"/>
            <a:ext cx="1828800" cy="457200"/>
          </a:xfrm>
          <a:prstGeom prst="ellipse">
            <a:avLst/>
          </a:prstGeom>
          <a:solidFill>
            <a:srgbClr val="C0C0C0"/>
          </a:solidFill>
          <a:ln/>
        </p:spPr>
      </p:sp>
      <p:sp>
        <p:nvSpPr>
          <p:cNvPr id="9" name="Shape 6"/>
          <p:cNvSpPr/>
          <p:nvPr/>
        </p:nvSpPr>
        <p:spPr>
          <a:xfrm>
            <a:off x="1143000" y="1645920"/>
            <a:ext cx="1828800" cy="1280160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2743200"/>
            <a:ext cx="1828800" cy="457200"/>
          </a:xfrm>
          <a:prstGeom prst="ellipse">
            <a:avLst/>
          </a:prstGeom>
          <a:solidFill>
            <a:srgbClr val="A0A0A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C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silver.retail_clean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&amp; Enriched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931920" y="1143000"/>
            <a:ext cx="4754880" cy="438912"/>
          </a:xfrm>
          <a:prstGeom prst="roundRect">
            <a:avLst>
              <a:gd name="adj" fmla="val 14583"/>
            </a:avLst>
          </a:prstGeom>
          <a:solidFill>
            <a:srgbClr val="111D3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1615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931920" y="1645920"/>
            <a:ext cx="4754880" cy="438912"/>
          </a:xfrm>
          <a:prstGeom prst="roundRect">
            <a:avLst>
              <a:gd name="adj" fmla="val 14583"/>
            </a:avLst>
          </a:prstGeom>
          <a:solidFill>
            <a:srgbClr val="111D3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1907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72000" y="1691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nulls &amp; missing values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931920" y="2148840"/>
            <a:ext cx="4754880" cy="438912"/>
          </a:xfrm>
          <a:prstGeom prst="roundRect">
            <a:avLst>
              <a:gd name="adj" fmla="val 14583"/>
            </a:avLst>
          </a:prstGeom>
          <a:solidFill>
            <a:srgbClr val="111D3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22199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0" y="2194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formats (dates, currencies)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3931920" y="2651760"/>
            <a:ext cx="4754880" cy="438912"/>
          </a:xfrm>
          <a:prstGeom prst="roundRect">
            <a:avLst>
              <a:gd name="adj" fmla="val 14583"/>
            </a:avLst>
          </a:prstGeom>
          <a:solidFill>
            <a:srgbClr val="111D3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724912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72000" y="2697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 data with reference lookups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3931920" y="3154680"/>
            <a:ext cx="4754880" cy="438912"/>
          </a:xfrm>
          <a:prstGeom prst="roundRect">
            <a:avLst>
              <a:gd name="adj" fmla="val 14583"/>
            </a:avLst>
          </a:prstGeom>
          <a:solidFill>
            <a:srgbClr val="111D3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227832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72000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business rules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3931920" y="3657600"/>
            <a:ext cx="4754880" cy="438912"/>
          </a:xfrm>
          <a:prstGeom prst="roundRect">
            <a:avLst>
              <a:gd name="adj" fmla="val 14583"/>
            </a:avLst>
          </a:prstGeom>
          <a:solidFill>
            <a:srgbClr val="111D32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3730752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72000" y="3703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validation &amp; quality checks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365760" y="4892040"/>
            <a:ext cx="8412480" cy="109728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32" name="Shape 23"/>
          <p:cNvSpPr/>
          <p:nvPr/>
        </p:nvSpPr>
        <p:spPr>
          <a:xfrm>
            <a:off x="365760" y="4892040"/>
            <a:ext cx="4206240" cy="109728"/>
          </a:xfrm>
          <a:prstGeom prst="roundRect">
            <a:avLst>
              <a:gd name="adj" fmla="val 50000"/>
            </a:avLst>
          </a:prstGeom>
          <a:solidFill>
            <a:srgbClr val="00A3E0"/>
          </a:solidFill>
          <a:ln/>
        </p:spPr>
      </p:sp>
      <p:sp>
        <p:nvSpPr>
          <p:cNvPr id="33" name="Text 24"/>
          <p:cNvSpPr/>
          <p:nvPr/>
        </p:nvSpPr>
        <p:spPr>
          <a:xfrm>
            <a:off x="365760" y="5010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of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28600"/>
            <a:ext cx="594360" cy="365760"/>
          </a:xfrm>
          <a:prstGeom prst="roundRect">
            <a:avLst>
              <a:gd name="adj" fmla="val 17500"/>
            </a:avLst>
          </a:prstGeom>
          <a:solidFill>
            <a:srgbClr val="FFD700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28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LAYER – BUSINESS READY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1148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and prepare data for analytics.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43000" y="1417320"/>
            <a:ext cx="1828800" cy="45720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9" name="Shape 6"/>
          <p:cNvSpPr/>
          <p:nvPr/>
        </p:nvSpPr>
        <p:spPr>
          <a:xfrm>
            <a:off x="1143000" y="1645920"/>
            <a:ext cx="1828800" cy="12801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2743200"/>
            <a:ext cx="18288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gold.retail_analytics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Ready Data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931920" y="1143000"/>
            <a:ext cx="4754880" cy="548640"/>
          </a:xfrm>
          <a:prstGeom prst="roundRect">
            <a:avLst>
              <a:gd name="adj" fmla="val 11667"/>
            </a:avLst>
          </a:prstGeom>
          <a:solidFill>
            <a:srgbClr val="111D32"/>
          </a:solidFill>
          <a:ln/>
        </p:spPr>
      </p:sp>
      <p:sp>
        <p:nvSpPr>
          <p:cNvPr id="14" name="Shape 11"/>
          <p:cNvSpPr/>
          <p:nvPr/>
        </p:nvSpPr>
        <p:spPr>
          <a:xfrm>
            <a:off x="3931920" y="1143000"/>
            <a:ext cx="91440" cy="5486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" name="Text 12"/>
          <p:cNvSpPr/>
          <p:nvPr/>
        </p:nvSpPr>
        <p:spPr>
          <a:xfrm>
            <a:off x="4206240" y="11887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Aggregations &amp; KPIs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206240" y="14356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Pre-computed metrics for dashboards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931920" y="1783080"/>
            <a:ext cx="4754880" cy="548640"/>
          </a:xfrm>
          <a:prstGeom prst="roundRect">
            <a:avLst>
              <a:gd name="adj" fmla="val 11667"/>
            </a:avLst>
          </a:prstGeom>
          <a:solidFill>
            <a:srgbClr val="111D32"/>
          </a:solidFill>
          <a:ln/>
        </p:spPr>
      </p:sp>
      <p:sp>
        <p:nvSpPr>
          <p:cNvPr id="18" name="Shape 15"/>
          <p:cNvSpPr/>
          <p:nvPr/>
        </p:nvSpPr>
        <p:spPr>
          <a:xfrm>
            <a:off x="3931920" y="1783080"/>
            <a:ext cx="91440" cy="5486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9" name="Text 16"/>
          <p:cNvSpPr/>
          <p:nvPr/>
        </p:nvSpPr>
        <p:spPr>
          <a:xfrm>
            <a:off x="4206240" y="18288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206240" y="20756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orders, customers, AOV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931920" y="2423160"/>
            <a:ext cx="4754880" cy="548640"/>
          </a:xfrm>
          <a:prstGeom prst="roundRect">
            <a:avLst>
              <a:gd name="adj" fmla="val 11667"/>
            </a:avLst>
          </a:prstGeom>
          <a:solidFill>
            <a:srgbClr val="111D32"/>
          </a:solidFill>
          <a:ln/>
        </p:spPr>
      </p:sp>
      <p:sp>
        <p:nvSpPr>
          <p:cNvPr id="22" name="Shape 19"/>
          <p:cNvSpPr/>
          <p:nvPr/>
        </p:nvSpPr>
        <p:spPr>
          <a:xfrm>
            <a:off x="3931920" y="2423160"/>
            <a:ext cx="91440" cy="5486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3" name="Text 20"/>
          <p:cNvSpPr/>
          <p:nvPr/>
        </p:nvSpPr>
        <p:spPr>
          <a:xfrm>
            <a:off x="4206240" y="24688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 Models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206240" y="27157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for efficient queries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931920" y="3063240"/>
            <a:ext cx="4754880" cy="548640"/>
          </a:xfrm>
          <a:prstGeom prst="roundRect">
            <a:avLst>
              <a:gd name="adj" fmla="val 11667"/>
            </a:avLst>
          </a:prstGeom>
          <a:solidFill>
            <a:srgbClr val="111D32"/>
          </a:solidFill>
          <a:ln/>
        </p:spPr>
      </p:sp>
      <p:sp>
        <p:nvSpPr>
          <p:cNvPr id="26" name="Shape 23"/>
          <p:cNvSpPr/>
          <p:nvPr/>
        </p:nvSpPr>
        <p:spPr>
          <a:xfrm>
            <a:off x="3931920" y="3063240"/>
            <a:ext cx="91440" cy="5486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7" name="Text 24"/>
          <p:cNvSpPr/>
          <p:nvPr/>
        </p:nvSpPr>
        <p:spPr>
          <a:xfrm>
            <a:off x="4206240" y="31089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for Analytics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206240" y="33558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Partitioned &amp; Z-ordered tables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931920" y="3703320"/>
            <a:ext cx="4754880" cy="548640"/>
          </a:xfrm>
          <a:prstGeom prst="roundRect">
            <a:avLst>
              <a:gd name="adj" fmla="val 11667"/>
            </a:avLst>
          </a:prstGeom>
          <a:solidFill>
            <a:srgbClr val="111D32"/>
          </a:solidFill>
          <a:ln/>
        </p:spPr>
      </p:sp>
      <p:sp>
        <p:nvSpPr>
          <p:cNvPr id="30" name="Shape 27"/>
          <p:cNvSpPr/>
          <p:nvPr/>
        </p:nvSpPr>
        <p:spPr>
          <a:xfrm>
            <a:off x="3931920" y="3703320"/>
            <a:ext cx="91440" cy="5486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1" name="Text 28"/>
          <p:cNvSpPr/>
          <p:nvPr/>
        </p:nvSpPr>
        <p:spPr>
          <a:xfrm>
            <a:off x="4206240" y="37490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Ready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206240" y="39959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connection to Power BI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65760" y="4892040"/>
            <a:ext cx="8412480" cy="109728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34" name="Shape 31"/>
          <p:cNvSpPr/>
          <p:nvPr/>
        </p:nvSpPr>
        <p:spPr>
          <a:xfrm>
            <a:off x="365760" y="4892040"/>
            <a:ext cx="4907280" cy="109728"/>
          </a:xfrm>
          <a:prstGeom prst="roundRect">
            <a:avLst>
              <a:gd name="adj" fmla="val 50000"/>
            </a:avLst>
          </a:prstGeom>
          <a:solidFill>
            <a:srgbClr val="00A3E0"/>
          </a:solidFill>
          <a:ln/>
        </p:spPr>
      </p:sp>
      <p:sp>
        <p:nvSpPr>
          <p:cNvPr id="35" name="Text 32"/>
          <p:cNvSpPr/>
          <p:nvPr/>
        </p:nvSpPr>
        <p:spPr>
          <a:xfrm>
            <a:off x="365760" y="5010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of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28600"/>
            <a:ext cx="594360" cy="365760"/>
          </a:xfrm>
          <a:prstGeom prst="roundRect">
            <a:avLst>
              <a:gd name="adj" fmla="val 17500"/>
            </a:avLst>
          </a:prstGeom>
          <a:solidFill>
            <a:srgbClr val="00A3E0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28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 STORAGE (DBFS)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1148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layers stored in Delta format for reliability and performance.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18745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A2A44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/bronze/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194560" y="18745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A2A44"/>
          </a:solidFill>
          <a:ln/>
        </p:spPr>
      </p:sp>
      <p:sp>
        <p:nvSpPr>
          <p:cNvPr id="13" name="Text 9"/>
          <p:cNvSpPr/>
          <p:nvPr/>
        </p:nvSpPr>
        <p:spPr>
          <a:xfrm>
            <a:off x="219456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/silver/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749040" y="18745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A2A44"/>
          </a:solidFill>
          <a:ln/>
        </p:spPr>
      </p:sp>
      <p:sp>
        <p:nvSpPr>
          <p:cNvPr id="15" name="Text 11"/>
          <p:cNvSpPr/>
          <p:nvPr/>
        </p:nvSpPr>
        <p:spPr>
          <a:xfrm>
            <a:off x="37490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/gold/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303520" y="18745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A2A44"/>
          </a:solidFill>
          <a:ln/>
        </p:spPr>
      </p:sp>
      <p:sp>
        <p:nvSpPr>
          <p:cNvPr id="17" name="Text 13"/>
          <p:cNvSpPr/>
          <p:nvPr/>
        </p:nvSpPr>
        <p:spPr>
          <a:xfrm>
            <a:off x="530352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/reference/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858000" y="18745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A2A44"/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/archive/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265176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346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864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Transactions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48640" y="3840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concurrent writes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194560" y="265176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83464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28600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2286000" y="3840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petabyte-scale data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931920" y="265176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83464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02336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023360" y="3840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enforcement &amp; evolution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669280" y="265176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834640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76072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Travel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760720" y="3840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historical versions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7406640" y="265176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2834640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49808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Effective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7498080" y="3840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storage &amp; compute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365760" y="4892040"/>
            <a:ext cx="8412480" cy="109728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41" name="Shape 32"/>
          <p:cNvSpPr/>
          <p:nvPr/>
        </p:nvSpPr>
        <p:spPr>
          <a:xfrm>
            <a:off x="365760" y="4892040"/>
            <a:ext cx="5608320" cy="109728"/>
          </a:xfrm>
          <a:prstGeom prst="roundRect">
            <a:avLst>
              <a:gd name="adj" fmla="val 50000"/>
            </a:avLst>
          </a:prstGeom>
          <a:solidFill>
            <a:srgbClr val="00A3E0"/>
          </a:solidFill>
          <a:ln/>
        </p:spPr>
      </p:sp>
      <p:sp>
        <p:nvSpPr>
          <p:cNvPr id="42" name="Text 33"/>
          <p:cNvSpPr/>
          <p:nvPr/>
        </p:nvSpPr>
        <p:spPr>
          <a:xfrm>
            <a:off x="365760" y="5010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 of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28600"/>
            <a:ext cx="594360" cy="365760"/>
          </a:xfrm>
          <a:prstGeom prst="roundRect">
            <a:avLst>
              <a:gd name="adj" fmla="val 17500"/>
            </a:avLst>
          </a:prstGeom>
          <a:solidFill>
            <a:srgbClr val="FF3621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28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NOTEBOOKS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1148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 using PySpark notebooks.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484632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325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Ingest raw data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spark.read.option("header", True)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0116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.option("inferSchema", True)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3317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.csv("/mnt/raw/retail/*.csv")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834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df.write.format("delta")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31546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.mode("overwrite")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4747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.saveAsTable("bronze.retail_raw")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931920"/>
            <a:ext cx="45720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577840" y="114300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15000" y="128016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FF3621"/>
          </a:solidFill>
          <a:ln/>
        </p:spPr>
      </p:sp>
      <p:sp>
        <p:nvSpPr>
          <p:cNvPr id="18" name="Text 14"/>
          <p:cNvSpPr/>
          <p:nvPr/>
        </p:nvSpPr>
        <p:spPr>
          <a:xfrm>
            <a:off x="5715000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30936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Bronze_Ingestion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30936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Load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577840" y="192024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715000" y="205740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FF3621"/>
          </a:solidFill>
          <a:ln/>
        </p:spPr>
      </p:sp>
      <p:sp>
        <p:nvSpPr>
          <p:cNvPr id="23" name="Text 19"/>
          <p:cNvSpPr/>
          <p:nvPr/>
        </p:nvSpPr>
        <p:spPr>
          <a:xfrm>
            <a:off x="5715000" y="2057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30936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Silver_Transformation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309360" y="2286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577840" y="269748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715000" y="283464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FF3621"/>
          </a:solidFill>
          <a:ln/>
        </p:spPr>
      </p:sp>
      <p:sp>
        <p:nvSpPr>
          <p:cNvPr id="28" name="Text 24"/>
          <p:cNvSpPr/>
          <p:nvPr/>
        </p:nvSpPr>
        <p:spPr>
          <a:xfrm>
            <a:off x="571500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30936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Gold_Aggregation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30936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&amp; Metrics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577840" y="347472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715000" y="361188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FF3621"/>
          </a:solidFill>
          <a:ln/>
        </p:spPr>
      </p:sp>
      <p:sp>
        <p:nvSpPr>
          <p:cNvPr id="33" name="Text 29"/>
          <p:cNvSpPr/>
          <p:nvPr/>
        </p:nvSpPr>
        <p:spPr>
          <a:xfrm>
            <a:off x="5715000" y="3611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30936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Data_Quality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6309360" y="3840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Checks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365760" y="4892040"/>
            <a:ext cx="8412480" cy="109728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37" name="Shape 33"/>
          <p:cNvSpPr/>
          <p:nvPr/>
        </p:nvSpPr>
        <p:spPr>
          <a:xfrm>
            <a:off x="365760" y="4892040"/>
            <a:ext cx="6309360" cy="109728"/>
          </a:xfrm>
          <a:prstGeom prst="roundRect">
            <a:avLst>
              <a:gd name="adj" fmla="val 50000"/>
            </a:avLst>
          </a:prstGeom>
          <a:solidFill>
            <a:srgbClr val="00A3E0"/>
          </a:solidFill>
          <a:ln/>
        </p:spPr>
      </p:sp>
      <p:sp>
        <p:nvSpPr>
          <p:cNvPr id="38" name="Text 34"/>
          <p:cNvSpPr/>
          <p:nvPr/>
        </p:nvSpPr>
        <p:spPr>
          <a:xfrm>
            <a:off x="365760" y="5010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 of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28600"/>
            <a:ext cx="594360" cy="365760"/>
          </a:xfrm>
          <a:prstGeom prst="roundRect">
            <a:avLst>
              <a:gd name="adj" fmla="val 17500"/>
            </a:avLst>
          </a:prstGeom>
          <a:solidFill>
            <a:srgbClr val="F2C811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28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1148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dashboards for data-driven decisions.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$ 2.45M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18.5%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06040" y="11887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9748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9748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32,985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69748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12.4%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11887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4632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463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18,275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84632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8.7%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903720" y="11887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9516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PRODUCTS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99516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1,248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99516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5.3%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65176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Sales Trend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22960" y="3840480"/>
            <a:ext cx="3474720" cy="0"/>
          </a:xfrm>
          <a:prstGeom prst="line">
            <a:avLst/>
          </a:prstGeom>
          <a:noFill/>
          <a:ln w="25400">
            <a:solidFill>
              <a:srgbClr val="00A3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4023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25  →  May 24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54880" y="265176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93776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Category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937760" y="3154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92240" y="3182112"/>
            <a:ext cx="1508760" cy="1371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1" name="Text 28"/>
          <p:cNvSpPr/>
          <p:nvPr/>
        </p:nvSpPr>
        <p:spPr>
          <a:xfrm>
            <a:off x="7955280" y="3154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$820K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937760" y="3383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&amp; Living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92240" y="3410712"/>
            <a:ext cx="1156716" cy="1371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4" name="Text 31"/>
          <p:cNvSpPr/>
          <p:nvPr/>
        </p:nvSpPr>
        <p:spPr>
          <a:xfrm>
            <a:off x="7955280" y="3383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$610K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937760" y="3611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92240" y="3639312"/>
            <a:ext cx="905256" cy="1371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7" name="Text 34"/>
          <p:cNvSpPr/>
          <p:nvPr/>
        </p:nvSpPr>
        <p:spPr>
          <a:xfrm>
            <a:off x="7955280" y="3611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$480K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937760" y="3840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492240" y="3867912"/>
            <a:ext cx="553212" cy="1371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40" name="Text 37"/>
          <p:cNvSpPr/>
          <p:nvPr/>
        </p:nvSpPr>
        <p:spPr>
          <a:xfrm>
            <a:off x="7955280" y="38404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$280K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937760" y="4069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92240" y="4096512"/>
            <a:ext cx="352044" cy="1371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43" name="Text 40"/>
          <p:cNvSpPr/>
          <p:nvPr/>
        </p:nvSpPr>
        <p:spPr>
          <a:xfrm>
            <a:off x="7955280" y="40690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365760" y="4892040"/>
            <a:ext cx="8412480" cy="109728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45" name="Shape 42"/>
          <p:cNvSpPr/>
          <p:nvPr/>
        </p:nvSpPr>
        <p:spPr>
          <a:xfrm>
            <a:off x="365760" y="4892040"/>
            <a:ext cx="7010400" cy="109728"/>
          </a:xfrm>
          <a:prstGeom prst="roundRect">
            <a:avLst>
              <a:gd name="adj" fmla="val 50000"/>
            </a:avLst>
          </a:prstGeom>
          <a:solidFill>
            <a:srgbClr val="00A3E0"/>
          </a:solidFill>
          <a:ln/>
        </p:spPr>
      </p:sp>
      <p:sp>
        <p:nvSpPr>
          <p:cNvPr id="46" name="Text 43"/>
          <p:cNvSpPr/>
          <p:nvPr/>
        </p:nvSpPr>
        <p:spPr>
          <a:xfrm>
            <a:off x="365760" y="5010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 of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28600"/>
            <a:ext cx="594360" cy="365760"/>
          </a:xfrm>
          <a:prstGeom prst="roundRect">
            <a:avLst>
              <a:gd name="adj" fmla="val 17500"/>
            </a:avLst>
          </a:prstGeom>
          <a:solidFill>
            <a:srgbClr val="00A3E0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28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8961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are growing consistently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88720" y="11704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upward trend across all regions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5544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1627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is the top performing category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188720" y="1901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revenue and order volume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2286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2359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value customers drive more revenue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188720" y="26334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20% customers contribute majority of sales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57200" y="3017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3090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performance varies by season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1188720" y="33649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for targeted campaigns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D32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86200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88720" y="38221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decisions improve profitability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1188720" y="40965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metrics enable faster action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365760" y="4892040"/>
            <a:ext cx="8412480" cy="109728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27" name="Shape 19"/>
          <p:cNvSpPr/>
          <p:nvPr/>
        </p:nvSpPr>
        <p:spPr>
          <a:xfrm>
            <a:off x="365760" y="4892040"/>
            <a:ext cx="7711440" cy="109728"/>
          </a:xfrm>
          <a:prstGeom prst="roundRect">
            <a:avLst>
              <a:gd name="adj" fmla="val 50000"/>
            </a:avLst>
          </a:prstGeom>
          <a:solidFill>
            <a:srgbClr val="00A3E0"/>
          </a:solidFill>
          <a:ln/>
        </p:spPr>
      </p:sp>
      <p:sp>
        <p:nvSpPr>
          <p:cNvPr id="28" name="Text 20"/>
          <p:cNvSpPr/>
          <p:nvPr/>
        </p:nvSpPr>
        <p:spPr>
          <a:xfrm>
            <a:off x="365760" y="5010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11 of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28600"/>
            <a:ext cx="594360" cy="365760"/>
          </a:xfrm>
          <a:prstGeom prst="roundRect">
            <a:avLst>
              <a:gd name="adj" fmla="val 17500"/>
            </a:avLst>
          </a:prstGeom>
          <a:solidFill>
            <a:srgbClr val="00A3E0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28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ARCHITECTURE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1148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platform on Azure Databricks.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1645920" cy="2011680"/>
          </a:xfrm>
          <a:prstGeom prst="roundRect">
            <a:avLst>
              <a:gd name="adj" fmla="val 5556"/>
            </a:avLst>
          </a:prstGeom>
          <a:solidFill>
            <a:srgbClr val="111D3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365760" cy="36576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77440"/>
            <a:ext cx="365760" cy="36576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8892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0574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3E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7"/>
          <p:cNvSpPr/>
          <p:nvPr/>
        </p:nvSpPr>
        <p:spPr>
          <a:xfrm>
            <a:off x="2468880" y="118872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11D32"/>
          </a:solidFill>
          <a:ln/>
        </p:spPr>
      </p:sp>
      <p:sp>
        <p:nvSpPr>
          <p:cNvPr id="14" name="Text 8"/>
          <p:cNvSpPr/>
          <p:nvPr/>
        </p:nvSpPr>
        <p:spPr>
          <a:xfrm>
            <a:off x="256032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DATABRICKS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2651760" y="1691640"/>
            <a:ext cx="1143000" cy="1280160"/>
          </a:xfrm>
          <a:prstGeom prst="roundRect">
            <a:avLst>
              <a:gd name="adj" fmla="val 6400"/>
            </a:avLst>
          </a:prstGeom>
          <a:solidFill>
            <a:srgbClr val="1A2A44"/>
          </a:solidFill>
          <a:ln/>
        </p:spPr>
      </p:sp>
      <p:sp>
        <p:nvSpPr>
          <p:cNvPr id="16" name="Shape 10"/>
          <p:cNvSpPr/>
          <p:nvPr/>
        </p:nvSpPr>
        <p:spPr>
          <a:xfrm>
            <a:off x="2651760" y="1691640"/>
            <a:ext cx="1143000" cy="73152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7" name="Text 11"/>
          <p:cNvSpPr/>
          <p:nvPr/>
        </p:nvSpPr>
        <p:spPr>
          <a:xfrm>
            <a:off x="2697480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931920" y="1691640"/>
            <a:ext cx="1143000" cy="1280160"/>
          </a:xfrm>
          <a:prstGeom prst="roundRect">
            <a:avLst>
              <a:gd name="adj" fmla="val 6400"/>
            </a:avLst>
          </a:prstGeom>
          <a:solidFill>
            <a:srgbClr val="1A2A44"/>
          </a:solidFill>
          <a:ln/>
        </p:spPr>
      </p:sp>
      <p:sp>
        <p:nvSpPr>
          <p:cNvPr id="19" name="Shape 13"/>
          <p:cNvSpPr/>
          <p:nvPr/>
        </p:nvSpPr>
        <p:spPr>
          <a:xfrm>
            <a:off x="3931920" y="1691640"/>
            <a:ext cx="1143000" cy="73152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20" name="Text 14"/>
          <p:cNvSpPr/>
          <p:nvPr/>
        </p:nvSpPr>
        <p:spPr>
          <a:xfrm>
            <a:off x="3977640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Data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212080" y="1691640"/>
            <a:ext cx="1143000" cy="1280160"/>
          </a:xfrm>
          <a:prstGeom prst="roundRect">
            <a:avLst>
              <a:gd name="adj" fmla="val 6400"/>
            </a:avLst>
          </a:prstGeom>
          <a:solidFill>
            <a:srgbClr val="1A2A44"/>
          </a:solidFill>
          <a:ln/>
        </p:spPr>
      </p:sp>
      <p:sp>
        <p:nvSpPr>
          <p:cNvPr id="22" name="Shape 16"/>
          <p:cNvSpPr/>
          <p:nvPr/>
        </p:nvSpPr>
        <p:spPr>
          <a:xfrm>
            <a:off x="5212080" y="1691640"/>
            <a:ext cx="1143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3" name="Text 17"/>
          <p:cNvSpPr/>
          <p:nvPr/>
        </p:nvSpPr>
        <p:spPr>
          <a:xfrm>
            <a:off x="5257800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Ready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6294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3E0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7040880" y="1188720"/>
            <a:ext cx="1645920" cy="2011680"/>
          </a:xfrm>
          <a:prstGeom prst="roundRect">
            <a:avLst>
              <a:gd name="adj" fmla="val 5556"/>
            </a:avLst>
          </a:prstGeom>
          <a:solidFill>
            <a:srgbClr val="111D3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554480"/>
            <a:ext cx="640080" cy="6400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132320" y="2651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57200" y="3429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11D3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56616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48640" y="4069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2194560" y="3429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11D3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" y="3566160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286000" y="4069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3931920" y="3429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11D32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3566160"/>
            <a:ext cx="365760" cy="36576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023360" y="4069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5669280" y="3429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11D32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566160"/>
            <a:ext cx="365760" cy="36576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760720" y="4069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Performant</a:t>
            </a:r>
            <a:endParaRPr lang="en-US" sz="1200" dirty="0"/>
          </a:p>
        </p:txBody>
      </p:sp>
      <p:sp>
        <p:nvSpPr>
          <p:cNvPr id="41" name="Shape 30"/>
          <p:cNvSpPr/>
          <p:nvPr/>
        </p:nvSpPr>
        <p:spPr>
          <a:xfrm>
            <a:off x="7406640" y="3429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11D32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3566160"/>
            <a:ext cx="365760" cy="36576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498080" y="4069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Effective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365760" y="4892040"/>
            <a:ext cx="8412480" cy="109728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45" name="Shape 33"/>
          <p:cNvSpPr/>
          <p:nvPr/>
        </p:nvSpPr>
        <p:spPr>
          <a:xfrm>
            <a:off x="365760" y="4892040"/>
            <a:ext cx="8412480" cy="109728"/>
          </a:xfrm>
          <a:prstGeom prst="roundRect">
            <a:avLst>
              <a:gd name="adj" fmla="val 50000"/>
            </a:avLst>
          </a:prstGeom>
          <a:solidFill>
            <a:srgbClr val="00A3E0"/>
          </a:solidFill>
          <a:ln/>
        </p:spPr>
      </p:sp>
      <p:sp>
        <p:nvSpPr>
          <p:cNvPr id="46" name="Text 34"/>
          <p:cNvSpPr/>
          <p:nvPr/>
        </p:nvSpPr>
        <p:spPr>
          <a:xfrm>
            <a:off x="365760" y="5010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12 of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Data Engineering with Databricks on Azure</dc:title>
  <dc:subject>Medallion Architecture Project Presentation</dc:subject>
  <dc:creator>Data Architect Instructor</dc:creator>
  <cp:lastModifiedBy>Data Architect Instructor</cp:lastModifiedBy>
  <cp:revision>1</cp:revision>
  <dcterms:created xsi:type="dcterms:W3CDTF">2026-08-25T23:29:00Z</dcterms:created>
  <dcterms:modified xsi:type="dcterms:W3CDTF">2026-08-25T23:29:00Z</dcterms:modified>
</cp:coreProperties>
</file>